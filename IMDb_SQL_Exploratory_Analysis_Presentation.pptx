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40" r:id="rId1"/>
  </p:sldMasterIdLst>
  <p:sldIdLst>
    <p:sldId id="256" r:id="rId2"/>
    <p:sldId id="257" r:id="rId3"/>
    <p:sldId id="258" r:id="rId4"/>
    <p:sldId id="259" r:id="rId5"/>
    <p:sldId id="260" r:id="rId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94660"/>
  </p:normalViewPr>
  <p:slideViewPr>
    <p:cSldViewPr snapToGrid="0">
      <p:cViewPr varScale="1">
        <p:scale>
          <a:sx n="83" d="100"/>
          <a:sy n="83" d="100"/>
        </p:scale>
        <p:origin x="643"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F67AE9EE-7318-4673-AB18-E149132312FA}" type="datetimeFigureOut">
              <a:rPr lang="en-US" smtClean="0"/>
              <a:t>14-Jul-26</a:t>
            </a:fld>
            <a:endParaRPr lang="en-US"/>
          </a:p>
        </p:txBody>
      </p:sp>
      <p:sp>
        <p:nvSpPr>
          <p:cNvPr id="5" name="Footer Placeholder 4"/>
          <p:cNvSpPr>
            <a:spLocks noGrp="1"/>
          </p:cNvSpPr>
          <p:nvPr>
            <p:ph type="ftr" sz="quarter" idx="11"/>
          </p:nvPr>
        </p:nvSpPr>
        <p:spPr/>
        <p:txBody>
          <a:bodyPr/>
          <a:lstStyle/>
          <a:p>
            <a:endParaRPr lang="en-US"/>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D82E3C6E-5681-4CDD-AD30-61E170070067}" type="slidenum">
              <a:rPr lang="en-US" smtClean="0"/>
              <a:t>‹#›</a:t>
            </a:fld>
            <a:endParaRPr lang="en-US"/>
          </a:p>
        </p:txBody>
      </p:sp>
    </p:spTree>
    <p:extLst>
      <p:ext uri="{BB962C8B-B14F-4D97-AF65-F5344CB8AC3E}">
        <p14:creationId xmlns:p14="http://schemas.microsoft.com/office/powerpoint/2010/main" val="26436567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67AE9EE-7318-4673-AB18-E149132312FA}" type="datetimeFigureOut">
              <a:rPr lang="en-US" smtClean="0"/>
              <a:t>14-Jul-26</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82E3C6E-5681-4CDD-AD30-61E170070067}" type="slidenum">
              <a:rPr lang="en-US" smtClean="0"/>
              <a:t>‹#›</a:t>
            </a:fld>
            <a:endParaRPr lang="en-US"/>
          </a:p>
        </p:txBody>
      </p:sp>
    </p:spTree>
    <p:extLst>
      <p:ext uri="{BB962C8B-B14F-4D97-AF65-F5344CB8AC3E}">
        <p14:creationId xmlns:p14="http://schemas.microsoft.com/office/powerpoint/2010/main" val="457123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67AE9EE-7318-4673-AB18-E149132312FA}" type="datetimeFigureOut">
              <a:rPr lang="en-US" smtClean="0"/>
              <a:t>14-Jul-26</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82E3C6E-5681-4CDD-AD30-61E170070067}" type="slidenum">
              <a:rPr lang="en-US" smtClean="0"/>
              <a:t>‹#›</a:t>
            </a:fld>
            <a:endParaRPr lang="en-US"/>
          </a:p>
        </p:txBody>
      </p:sp>
    </p:spTree>
    <p:extLst>
      <p:ext uri="{BB962C8B-B14F-4D97-AF65-F5344CB8AC3E}">
        <p14:creationId xmlns:p14="http://schemas.microsoft.com/office/powerpoint/2010/main" val="24428439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67AE9EE-7318-4673-AB18-E149132312FA}" type="datetimeFigureOut">
              <a:rPr lang="en-US" smtClean="0"/>
              <a:t>14-Jul-26</a:t>
            </a:fld>
            <a:endParaRPr lang="en-US"/>
          </a:p>
        </p:txBody>
      </p:sp>
      <p:sp>
        <p:nvSpPr>
          <p:cNvPr id="6" name="Footer Placeholder 5"/>
          <p:cNvSpPr>
            <a:spLocks noGrp="1"/>
          </p:cNvSpPr>
          <p:nvPr>
            <p:ph type="ftr" sz="quarter" idx="11"/>
          </p:nvPr>
        </p:nvSpPr>
        <p:spPr/>
        <p:txBody>
          <a:bodyPr/>
          <a:lstStyle/>
          <a:p>
            <a:endParaRPr lang="en-US"/>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D82E3C6E-5681-4CDD-AD30-61E170070067}" type="slidenum">
              <a:rPr lang="en-US" smtClean="0"/>
              <a:t>‹#›</a:t>
            </a:fld>
            <a:endParaRPr lang="en-US"/>
          </a:p>
        </p:txBody>
      </p:sp>
    </p:spTree>
    <p:extLst>
      <p:ext uri="{BB962C8B-B14F-4D97-AF65-F5344CB8AC3E}">
        <p14:creationId xmlns:p14="http://schemas.microsoft.com/office/powerpoint/2010/main" val="24256409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67AE9EE-7318-4673-AB18-E149132312FA}" type="datetimeFigureOut">
              <a:rPr lang="en-US" smtClean="0"/>
              <a:t>14-Jul-26</a:t>
            </a:fld>
            <a:endParaRPr lang="en-US"/>
          </a:p>
        </p:txBody>
      </p:sp>
      <p:sp>
        <p:nvSpPr>
          <p:cNvPr id="8" name="Footer Placeholder 7"/>
          <p:cNvSpPr>
            <a:spLocks noGrp="1"/>
          </p:cNvSpPr>
          <p:nvPr>
            <p:ph type="ftr" sz="quarter" idx="11"/>
          </p:nvPr>
        </p:nvSpPr>
        <p:spPr/>
        <p:txBody>
          <a:bodyPr/>
          <a:lstStyle/>
          <a:p>
            <a:endParaRPr lang="en-US"/>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D82E3C6E-5681-4CDD-AD30-61E170070067}" type="slidenum">
              <a:rPr lang="en-US" smtClean="0"/>
              <a:t>‹#›</a:t>
            </a:fld>
            <a:endParaRPr lang="en-US"/>
          </a:p>
        </p:txBody>
      </p:sp>
    </p:spTree>
    <p:extLst>
      <p:ext uri="{BB962C8B-B14F-4D97-AF65-F5344CB8AC3E}">
        <p14:creationId xmlns:p14="http://schemas.microsoft.com/office/powerpoint/2010/main" val="922458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67AE9EE-7318-4673-AB18-E149132312FA}" type="datetimeFigureOut">
              <a:rPr lang="en-US" smtClean="0"/>
              <a:t>14-Jul-26</a:t>
            </a:fld>
            <a:endParaRPr lang="en-US"/>
          </a:p>
        </p:txBody>
      </p:sp>
      <p:sp>
        <p:nvSpPr>
          <p:cNvPr id="4" name="Footer Placeholder 3"/>
          <p:cNvSpPr>
            <a:spLocks noGrp="1"/>
          </p:cNvSpPr>
          <p:nvPr>
            <p:ph type="ftr" sz="quarter" idx="11"/>
          </p:nvPr>
        </p:nvSpPr>
        <p:spPr/>
        <p:txBody>
          <a:bodyPr/>
          <a:lstStyle/>
          <a:p>
            <a:endParaRPr lang="en-US"/>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D82E3C6E-5681-4CDD-AD30-61E170070067}" type="slidenum">
              <a:rPr lang="en-US" smtClean="0"/>
              <a:t>‹#›</a:t>
            </a:fld>
            <a:endParaRPr lang="en-US"/>
          </a:p>
        </p:txBody>
      </p:sp>
    </p:spTree>
    <p:extLst>
      <p:ext uri="{BB962C8B-B14F-4D97-AF65-F5344CB8AC3E}">
        <p14:creationId xmlns:p14="http://schemas.microsoft.com/office/powerpoint/2010/main" val="37965696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67AE9EE-7318-4673-AB18-E149132312FA}" type="datetimeFigureOut">
              <a:rPr lang="en-US" smtClean="0"/>
              <a:t>14-Jul-26</a:t>
            </a:fld>
            <a:endParaRPr lang="en-US"/>
          </a:p>
        </p:txBody>
      </p:sp>
      <p:sp>
        <p:nvSpPr>
          <p:cNvPr id="3" name="Footer Placeholder 2"/>
          <p:cNvSpPr>
            <a:spLocks noGrp="1"/>
          </p:cNvSpPr>
          <p:nvPr>
            <p:ph type="ftr" sz="quarter" idx="11"/>
          </p:nvPr>
        </p:nvSpPr>
        <p:spPr/>
        <p:txBody>
          <a:bodyPr/>
          <a:lstStyle/>
          <a:p>
            <a:endParaRPr lang="en-US"/>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D82E3C6E-5681-4CDD-AD30-61E170070067}" type="slidenum">
              <a:rPr lang="en-US" smtClean="0"/>
              <a:t>‹#›</a:t>
            </a:fld>
            <a:endParaRPr lang="en-US"/>
          </a:p>
        </p:txBody>
      </p:sp>
    </p:spTree>
    <p:extLst>
      <p:ext uri="{BB962C8B-B14F-4D97-AF65-F5344CB8AC3E}">
        <p14:creationId xmlns:p14="http://schemas.microsoft.com/office/powerpoint/2010/main" val="41585396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67AE9EE-7318-4673-AB18-E149132312FA}" type="datetimeFigureOut">
              <a:rPr lang="en-US" smtClean="0"/>
              <a:t>14-Jul-26</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D82E3C6E-5681-4CDD-AD30-61E170070067}" type="slidenum">
              <a:rPr lang="en-US" smtClean="0"/>
              <a:t>‹#›</a:t>
            </a:fld>
            <a:endParaRPr lang="en-US"/>
          </a:p>
        </p:txBody>
      </p:sp>
    </p:spTree>
    <p:extLst>
      <p:ext uri="{BB962C8B-B14F-4D97-AF65-F5344CB8AC3E}">
        <p14:creationId xmlns:p14="http://schemas.microsoft.com/office/powerpoint/2010/main" val="39770480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67AE9EE-7318-4673-AB18-E149132312FA}" type="datetimeFigureOut">
              <a:rPr lang="en-US" smtClean="0"/>
              <a:t>14-Jul-26</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82E3C6E-5681-4CDD-AD30-61E170070067}" type="slidenum">
              <a:rPr lang="en-US" smtClean="0"/>
              <a:t>‹#›</a:t>
            </a:fld>
            <a:endParaRPr lang="en-US"/>
          </a:p>
        </p:txBody>
      </p:sp>
    </p:spTree>
    <p:extLst>
      <p:ext uri="{BB962C8B-B14F-4D97-AF65-F5344CB8AC3E}">
        <p14:creationId xmlns:p14="http://schemas.microsoft.com/office/powerpoint/2010/main" val="26792013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67AE9EE-7318-4673-AB18-E149132312FA}" type="datetimeFigureOut">
              <a:rPr lang="en-US" smtClean="0"/>
              <a:t>14-Jul-26</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82E3C6E-5681-4CDD-AD30-61E170070067}" type="slidenum">
              <a:rPr lang="en-US" smtClean="0"/>
              <a:t>‹#›</a:t>
            </a:fld>
            <a:endParaRPr lang="en-US"/>
          </a:p>
        </p:txBody>
      </p:sp>
    </p:spTree>
    <p:extLst>
      <p:ext uri="{BB962C8B-B14F-4D97-AF65-F5344CB8AC3E}">
        <p14:creationId xmlns:p14="http://schemas.microsoft.com/office/powerpoint/2010/main" val="34996694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67AE9EE-7318-4673-AB18-E149132312FA}" type="datetimeFigureOut">
              <a:rPr lang="en-US" smtClean="0"/>
              <a:t>14-Jul-26</a:t>
            </a:fld>
            <a:endParaRPr lang="en-US"/>
          </a:p>
        </p:txBody>
      </p:sp>
      <p:sp>
        <p:nvSpPr>
          <p:cNvPr id="5" name="Footer Placeholder 4"/>
          <p:cNvSpPr>
            <a:spLocks noGrp="1"/>
          </p:cNvSpPr>
          <p:nvPr>
            <p:ph type="ftr" sz="quarter" idx="11"/>
          </p:nvPr>
        </p:nvSpPr>
        <p:spPr/>
        <p:txBody>
          <a:bodyPr/>
          <a:lstStyle/>
          <a:p>
            <a:endParaRPr lang="en-US"/>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82E3C6E-5681-4CDD-AD30-61E170070067}" type="slidenum">
              <a:rPr lang="en-US" smtClean="0"/>
              <a:t>‹#›</a:t>
            </a:fld>
            <a:endParaRPr lang="en-US"/>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93019451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F67AE9EE-7318-4673-AB18-E149132312FA}" type="datetimeFigureOut">
              <a:rPr lang="en-US" smtClean="0"/>
              <a:t>14-Jul-26</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82E3C6E-5681-4CDD-AD30-61E170070067}" type="slidenum">
              <a:rPr lang="en-US" smtClean="0"/>
              <a:t>‹#›</a:t>
            </a:fld>
            <a:endParaRPr lang="en-US"/>
          </a:p>
        </p:txBody>
      </p:sp>
    </p:spTree>
    <p:extLst>
      <p:ext uri="{BB962C8B-B14F-4D97-AF65-F5344CB8AC3E}">
        <p14:creationId xmlns:p14="http://schemas.microsoft.com/office/powerpoint/2010/main" val="73529221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F67AE9EE-7318-4673-AB18-E149132312FA}" type="datetimeFigureOut">
              <a:rPr lang="en-US" smtClean="0"/>
              <a:t>14-Jul-26</a:t>
            </a:fld>
            <a:endParaRPr lang="en-US"/>
          </a:p>
        </p:txBody>
      </p:sp>
      <p:sp>
        <p:nvSpPr>
          <p:cNvPr id="6" name="Footer Placeholder 5"/>
          <p:cNvSpPr>
            <a:spLocks noGrp="1"/>
          </p:cNvSpPr>
          <p:nvPr>
            <p:ph type="ftr" sz="quarter" idx="11"/>
          </p:nvPr>
        </p:nvSpPr>
        <p:spPr/>
        <p:txBody>
          <a:bodyPr/>
          <a:lstStyle/>
          <a:p>
            <a:endParaRPr lang="en-US"/>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82E3C6E-5681-4CDD-AD30-61E170070067}" type="slidenum">
              <a:rPr lang="en-US" smtClean="0"/>
              <a:t>‹#›</a:t>
            </a:fld>
            <a:endParaRPr lang="en-US"/>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03801748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F67AE9EE-7318-4673-AB18-E149132312FA}" type="datetimeFigureOut">
              <a:rPr lang="en-US" smtClean="0"/>
              <a:t>14-Jul-26</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82E3C6E-5681-4CDD-AD30-61E170070067}" type="slidenum">
              <a:rPr lang="en-US" smtClean="0"/>
              <a:t>‹#›</a:t>
            </a:fld>
            <a:endParaRPr lang="en-US"/>
          </a:p>
        </p:txBody>
      </p:sp>
    </p:spTree>
    <p:extLst>
      <p:ext uri="{BB962C8B-B14F-4D97-AF65-F5344CB8AC3E}">
        <p14:creationId xmlns:p14="http://schemas.microsoft.com/office/powerpoint/2010/main" val="52570587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67AE9EE-7318-4673-AB18-E149132312FA}" type="datetimeFigureOut">
              <a:rPr lang="en-US" smtClean="0"/>
              <a:t>14-Jul-26</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82E3C6E-5681-4CDD-AD30-61E170070067}" type="slidenum">
              <a:rPr lang="en-US" smtClean="0"/>
              <a:t>‹#›</a:t>
            </a:fld>
            <a:endParaRPr lang="en-US"/>
          </a:p>
        </p:txBody>
      </p:sp>
    </p:spTree>
    <p:extLst>
      <p:ext uri="{BB962C8B-B14F-4D97-AF65-F5344CB8AC3E}">
        <p14:creationId xmlns:p14="http://schemas.microsoft.com/office/powerpoint/2010/main" val="320681353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67AE9EE-7318-4673-AB18-E149132312FA}" type="datetimeFigureOut">
              <a:rPr lang="en-US" smtClean="0"/>
              <a:t>14-Jul-26</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82E3C6E-5681-4CDD-AD30-61E170070067}" type="slidenum">
              <a:rPr lang="en-US" smtClean="0"/>
              <a:t>‹#›</a:t>
            </a:fld>
            <a:endParaRPr lang="en-US"/>
          </a:p>
        </p:txBody>
      </p:sp>
    </p:spTree>
    <p:extLst>
      <p:ext uri="{BB962C8B-B14F-4D97-AF65-F5344CB8AC3E}">
        <p14:creationId xmlns:p14="http://schemas.microsoft.com/office/powerpoint/2010/main" val="8123215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F67AE9EE-7318-4673-AB18-E149132312FA}" type="datetimeFigureOut">
              <a:rPr lang="en-US" smtClean="0"/>
              <a:t>14-Jul-26</a:t>
            </a:fld>
            <a:endParaRPr lang="en-US"/>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D82E3C6E-5681-4CDD-AD30-61E170070067}" type="slidenum">
              <a:rPr lang="en-US" smtClean="0"/>
              <a:t>‹#›</a:t>
            </a:fld>
            <a:endParaRPr lang="en-US"/>
          </a:p>
        </p:txBody>
      </p:sp>
    </p:spTree>
    <p:extLst>
      <p:ext uri="{BB962C8B-B14F-4D97-AF65-F5344CB8AC3E}">
        <p14:creationId xmlns:p14="http://schemas.microsoft.com/office/powerpoint/2010/main" val="4257984428"/>
      </p:ext>
    </p:extLst>
  </p:cSld>
  <p:clrMap bg1="lt1" tx1="dk1" bg2="lt2" tx2="dk2" accent1="accent1" accent2="accent2" accent3="accent3" accent4="accent4" accent5="accent5" accent6="accent6" hlink="hlink" folHlink="folHlink"/>
  <p:sldLayoutIdLst>
    <p:sldLayoutId id="2147483941" r:id="rId1"/>
    <p:sldLayoutId id="2147483942" r:id="rId2"/>
    <p:sldLayoutId id="2147483943" r:id="rId3"/>
    <p:sldLayoutId id="2147483944" r:id="rId4"/>
    <p:sldLayoutId id="2147483945" r:id="rId5"/>
    <p:sldLayoutId id="2147483946" r:id="rId6"/>
    <p:sldLayoutId id="2147483947" r:id="rId7"/>
    <p:sldLayoutId id="2147483948" r:id="rId8"/>
    <p:sldLayoutId id="2147483949" r:id="rId9"/>
    <p:sldLayoutId id="2147483950" r:id="rId10"/>
    <p:sldLayoutId id="2147483951" r:id="rId11"/>
    <p:sldLayoutId id="2147483952" r:id="rId12"/>
    <p:sldLayoutId id="2147483953" r:id="rId13"/>
    <p:sldLayoutId id="2147483954" r:id="rId14"/>
    <p:sldLayoutId id="2147483955" r:id="rId15"/>
    <p:sldLayoutId id="2147483956"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9A5269-1FA7-8E8B-2215-63D24C48E17A}"/>
              </a:ext>
            </a:extLst>
          </p:cNvPr>
          <p:cNvSpPr>
            <a:spLocks noGrp="1"/>
          </p:cNvSpPr>
          <p:nvPr>
            <p:ph type="ctrTitle"/>
          </p:nvPr>
        </p:nvSpPr>
        <p:spPr>
          <a:xfrm>
            <a:off x="1406958" y="297873"/>
            <a:ext cx="8915399" cy="2262781"/>
          </a:xfrm>
        </p:spPr>
        <p:txBody>
          <a:bodyPr/>
          <a:lstStyle/>
          <a:p>
            <a:r>
              <a:rPr lang="en-US" b="1" dirty="0">
                <a:solidFill>
                  <a:schemeClr val="tx1"/>
                </a:solidFill>
              </a:rPr>
              <a:t>Title</a:t>
            </a:r>
            <a:br>
              <a:rPr lang="en-US" b="1" dirty="0">
                <a:solidFill>
                  <a:schemeClr val="tx1"/>
                </a:solidFill>
              </a:rPr>
            </a:br>
            <a:endParaRPr lang="en-US" dirty="0"/>
          </a:p>
        </p:txBody>
      </p:sp>
      <p:sp>
        <p:nvSpPr>
          <p:cNvPr id="3" name="Subtitle 2">
            <a:extLst>
              <a:ext uri="{FF2B5EF4-FFF2-40B4-BE49-F238E27FC236}">
                <a16:creationId xmlns:a16="http://schemas.microsoft.com/office/drawing/2014/main" id="{E0FF1EEB-9675-46CF-AE9F-BBBA14EADAA8}"/>
              </a:ext>
            </a:extLst>
          </p:cNvPr>
          <p:cNvSpPr>
            <a:spLocks noGrp="1"/>
          </p:cNvSpPr>
          <p:nvPr>
            <p:ph type="subTitle" idx="1"/>
          </p:nvPr>
        </p:nvSpPr>
        <p:spPr>
          <a:xfrm>
            <a:off x="2607686" y="2560654"/>
            <a:ext cx="8915399" cy="1126283"/>
          </a:xfrm>
        </p:spPr>
        <p:txBody>
          <a:bodyPr>
            <a:normAutofit fontScale="25000" lnSpcReduction="20000"/>
          </a:bodyPr>
          <a:lstStyle/>
          <a:p>
            <a:endParaRPr lang="en-US" sz="7000" b="1" dirty="0">
              <a:solidFill>
                <a:schemeClr val="tx1"/>
              </a:solidFill>
            </a:endParaRPr>
          </a:p>
          <a:p>
            <a:r>
              <a:rPr lang="en-US" sz="9600" b="1" dirty="0">
                <a:solidFill>
                  <a:schemeClr val="tx1"/>
                </a:solidFill>
              </a:rPr>
              <a:t>Exploratory Analysis of IMDb Movie Ratings (2010–2019)</a:t>
            </a:r>
          </a:p>
          <a:p>
            <a:r>
              <a:rPr lang="en-US" sz="9600" b="1" dirty="0">
                <a:solidFill>
                  <a:schemeClr val="tx1"/>
                </a:solidFill>
              </a:rPr>
              <a:t>Student:</a:t>
            </a:r>
            <a:r>
              <a:rPr lang="en-US" sz="9600" dirty="0">
                <a:solidFill>
                  <a:schemeClr val="tx1"/>
                </a:solidFill>
              </a:rPr>
              <a:t> Clement Saini </a:t>
            </a:r>
            <a:r>
              <a:rPr lang="en-US" sz="9600" dirty="0" err="1">
                <a:solidFill>
                  <a:schemeClr val="tx1"/>
                </a:solidFill>
              </a:rPr>
              <a:t>Lekuiye</a:t>
            </a:r>
            <a:endParaRPr lang="en-US" sz="9600" dirty="0">
              <a:solidFill>
                <a:schemeClr val="tx1"/>
              </a:solidFill>
            </a:endParaRPr>
          </a:p>
          <a:p>
            <a:r>
              <a:rPr lang="en-US" sz="9600" b="1" dirty="0">
                <a:solidFill>
                  <a:schemeClr val="tx1"/>
                </a:solidFill>
              </a:rPr>
              <a:t>Course:</a:t>
            </a:r>
            <a:r>
              <a:rPr lang="en-US" sz="9600" dirty="0">
                <a:solidFill>
                  <a:schemeClr val="tx1"/>
                </a:solidFill>
              </a:rPr>
              <a:t> SQL Summative Lab</a:t>
            </a:r>
          </a:p>
          <a:p>
            <a:r>
              <a:rPr lang="en-US" sz="9600" b="1" dirty="0">
                <a:solidFill>
                  <a:schemeClr val="tx1"/>
                </a:solidFill>
              </a:rPr>
              <a:t>Dataset:</a:t>
            </a:r>
            <a:r>
              <a:rPr lang="en-US" sz="9600" dirty="0">
                <a:solidFill>
                  <a:schemeClr val="tx1"/>
                </a:solidFill>
              </a:rPr>
              <a:t> IMDb Movie Database</a:t>
            </a:r>
          </a:p>
          <a:p>
            <a:endParaRPr lang="en-US" dirty="0"/>
          </a:p>
        </p:txBody>
      </p:sp>
    </p:spTree>
    <p:extLst>
      <p:ext uri="{BB962C8B-B14F-4D97-AF65-F5344CB8AC3E}">
        <p14:creationId xmlns:p14="http://schemas.microsoft.com/office/powerpoint/2010/main" val="3831997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AF871B-ED40-ABB2-DC8D-01F2ABEE2CC5}"/>
              </a:ext>
            </a:extLst>
          </p:cNvPr>
          <p:cNvSpPr>
            <a:spLocks noGrp="1"/>
          </p:cNvSpPr>
          <p:nvPr>
            <p:ph type="ctrTitle"/>
          </p:nvPr>
        </p:nvSpPr>
        <p:spPr>
          <a:xfrm>
            <a:off x="1156085" y="75511"/>
            <a:ext cx="7766936" cy="1646302"/>
          </a:xfrm>
        </p:spPr>
        <p:txBody>
          <a:bodyPr>
            <a:normAutofit fontScale="90000"/>
          </a:bodyPr>
          <a:lstStyle/>
          <a:p>
            <a:r>
              <a:rPr lang="en-US" b="1" dirty="0"/>
              <a:t>Initial Exploration Findings</a:t>
            </a:r>
          </a:p>
        </p:txBody>
      </p:sp>
      <p:sp>
        <p:nvSpPr>
          <p:cNvPr id="3" name="Subtitle 2">
            <a:extLst>
              <a:ext uri="{FF2B5EF4-FFF2-40B4-BE49-F238E27FC236}">
                <a16:creationId xmlns:a16="http://schemas.microsoft.com/office/drawing/2014/main" id="{714E3E1B-C0BF-8C9C-C0F9-3FD3DBDCF027}"/>
              </a:ext>
            </a:extLst>
          </p:cNvPr>
          <p:cNvSpPr>
            <a:spLocks noGrp="1"/>
          </p:cNvSpPr>
          <p:nvPr>
            <p:ph type="subTitle" idx="1"/>
          </p:nvPr>
        </p:nvSpPr>
        <p:spPr>
          <a:xfrm>
            <a:off x="2430703" y="1935706"/>
            <a:ext cx="7766936" cy="1096899"/>
          </a:xfrm>
        </p:spPr>
        <p:txBody>
          <a:bodyPr>
            <a:noAutofit/>
          </a:bodyPr>
          <a:lstStyle/>
          <a:p>
            <a:r>
              <a:rPr lang="en-US" sz="1600" b="1" dirty="0">
                <a:solidFill>
                  <a:schemeClr val="tx1"/>
                </a:solidFill>
              </a:rPr>
              <a:t>Initial Data Exploration</a:t>
            </a:r>
          </a:p>
          <a:p>
            <a:r>
              <a:rPr lang="en-US" sz="1600" dirty="0">
                <a:solidFill>
                  <a:schemeClr val="tx1"/>
                </a:solidFill>
              </a:rPr>
              <a:t>During the exploration of the IMDb database, I joined the </a:t>
            </a:r>
            <a:r>
              <a:rPr lang="en-US" sz="1600" dirty="0" err="1">
                <a:solidFill>
                  <a:schemeClr val="tx1"/>
                </a:solidFill>
              </a:rPr>
              <a:t>movie_basics</a:t>
            </a:r>
            <a:r>
              <a:rPr lang="en-US" sz="1600" dirty="0">
                <a:solidFill>
                  <a:schemeClr val="tx1"/>
                </a:solidFill>
              </a:rPr>
              <a:t> and </a:t>
            </a:r>
            <a:r>
              <a:rPr lang="en-US" sz="1600" dirty="0" err="1">
                <a:solidFill>
                  <a:schemeClr val="tx1"/>
                </a:solidFill>
              </a:rPr>
              <a:t>movie_ratings</a:t>
            </a:r>
            <a:r>
              <a:rPr lang="en-US" sz="1600" dirty="0">
                <a:solidFill>
                  <a:schemeClr val="tx1"/>
                </a:solidFill>
              </a:rPr>
              <a:t> tables to investigate how movie genres performed between 2010 and 2019. To improve the reliability of the analysis, movies released after 2019 were excluded, records with missing genres were removed, and only movies with at least </a:t>
            </a:r>
            <a:r>
              <a:rPr lang="en-US" sz="1600" b="1" dirty="0">
                <a:solidFill>
                  <a:schemeClr val="tx1"/>
                </a:solidFill>
              </a:rPr>
              <a:t>1,000 audience votes</a:t>
            </a:r>
            <a:r>
              <a:rPr lang="en-US" sz="1600" dirty="0">
                <a:solidFill>
                  <a:schemeClr val="tx1"/>
                </a:solidFill>
              </a:rPr>
              <a:t> were included.</a:t>
            </a:r>
          </a:p>
          <a:p>
            <a:r>
              <a:rPr lang="en-US" sz="1600" b="1" dirty="0">
                <a:solidFill>
                  <a:schemeClr val="tx1"/>
                </a:solidFill>
              </a:rPr>
              <a:t>Key Findings</a:t>
            </a:r>
          </a:p>
          <a:p>
            <a:r>
              <a:rPr lang="en-US" sz="1600" dirty="0">
                <a:solidFill>
                  <a:schemeClr val="tx1"/>
                </a:solidFill>
              </a:rPr>
              <a:t>Documentary-related genres achieved the highest average audience ratings.</a:t>
            </a:r>
          </a:p>
          <a:p>
            <a:r>
              <a:rPr lang="en-US" sz="1600" dirty="0">
                <a:solidFill>
                  <a:schemeClr val="tx1"/>
                </a:solidFill>
              </a:rPr>
              <a:t>Drama appeared frequently among the highest-rated genres. </a:t>
            </a:r>
          </a:p>
          <a:p>
            <a:r>
              <a:rPr lang="en-US" sz="1600" dirty="0">
                <a:solidFill>
                  <a:schemeClr val="tx1"/>
                </a:solidFill>
              </a:rPr>
              <a:t>Horror-related genres generally received the lowest average ratings. </a:t>
            </a:r>
          </a:p>
          <a:p>
            <a:r>
              <a:rPr lang="en-US" sz="1600" dirty="0">
                <a:solidFill>
                  <a:schemeClr val="tx1"/>
                </a:solidFill>
              </a:rPr>
              <a:t>Some genres had relatively few movies despite achieving high ratings, suggesting that sample size should be considered when interpreting results.</a:t>
            </a:r>
          </a:p>
          <a:p>
            <a:endParaRPr lang="en-US" sz="1600" dirty="0">
              <a:solidFill>
                <a:schemeClr val="tx1"/>
              </a:solidFill>
            </a:endParaRPr>
          </a:p>
        </p:txBody>
      </p:sp>
    </p:spTree>
    <p:extLst>
      <p:ext uri="{BB962C8B-B14F-4D97-AF65-F5344CB8AC3E}">
        <p14:creationId xmlns:p14="http://schemas.microsoft.com/office/powerpoint/2010/main" val="29333459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0C60EE-A782-33DB-9094-34ADD10D4CEF}"/>
              </a:ext>
            </a:extLst>
          </p:cNvPr>
          <p:cNvSpPr>
            <a:spLocks noGrp="1"/>
          </p:cNvSpPr>
          <p:nvPr>
            <p:ph type="ctrTitle"/>
          </p:nvPr>
        </p:nvSpPr>
        <p:spPr>
          <a:xfrm>
            <a:off x="989830" y="206279"/>
            <a:ext cx="7766936" cy="1646302"/>
          </a:xfrm>
        </p:spPr>
        <p:txBody>
          <a:bodyPr>
            <a:normAutofit/>
          </a:bodyPr>
          <a:lstStyle/>
          <a:p>
            <a:r>
              <a:rPr lang="en-US" b="1" dirty="0"/>
              <a:t>Business Question</a:t>
            </a:r>
          </a:p>
        </p:txBody>
      </p:sp>
      <p:sp>
        <p:nvSpPr>
          <p:cNvPr id="3" name="Subtitle 2">
            <a:extLst>
              <a:ext uri="{FF2B5EF4-FFF2-40B4-BE49-F238E27FC236}">
                <a16:creationId xmlns:a16="http://schemas.microsoft.com/office/drawing/2014/main" id="{5174B40C-7216-5A05-C61E-D88B82586AD1}"/>
              </a:ext>
            </a:extLst>
          </p:cNvPr>
          <p:cNvSpPr>
            <a:spLocks noGrp="1"/>
          </p:cNvSpPr>
          <p:nvPr>
            <p:ph type="subTitle" idx="1"/>
          </p:nvPr>
        </p:nvSpPr>
        <p:spPr>
          <a:xfrm>
            <a:off x="2596670" y="1943885"/>
            <a:ext cx="7766936" cy="1096899"/>
          </a:xfrm>
        </p:spPr>
        <p:txBody>
          <a:bodyPr>
            <a:noAutofit/>
          </a:bodyPr>
          <a:lstStyle/>
          <a:p>
            <a:endParaRPr lang="en-US" sz="2000" b="1" dirty="0">
              <a:solidFill>
                <a:schemeClr val="tx1"/>
              </a:solidFill>
            </a:endParaRPr>
          </a:p>
          <a:p>
            <a:r>
              <a:rPr lang="en-US" sz="2000" b="1" dirty="0">
                <a:solidFill>
                  <a:schemeClr val="tx1"/>
                </a:solidFill>
              </a:rPr>
              <a:t>Which movie genres consistently receive the highest audience ratings while also attracting meaningful audience engagement?</a:t>
            </a:r>
            <a:endParaRPr lang="en-US" sz="2000" dirty="0">
              <a:solidFill>
                <a:schemeClr val="tx1"/>
              </a:solidFill>
            </a:endParaRPr>
          </a:p>
          <a:p>
            <a:r>
              <a:rPr lang="en-US" sz="2000" b="1" dirty="0">
                <a:solidFill>
                  <a:schemeClr val="tx1"/>
                </a:solidFill>
              </a:rPr>
              <a:t>Why this matters</a:t>
            </a:r>
          </a:p>
          <a:p>
            <a:r>
              <a:rPr lang="en-US" sz="2000" dirty="0">
                <a:solidFill>
                  <a:schemeClr val="tx1"/>
                </a:solidFill>
              </a:rPr>
              <a:t>Understanding which genres perform best can help movie studios and streaming platforms:</a:t>
            </a:r>
          </a:p>
          <a:p>
            <a:r>
              <a:rPr lang="en-US" sz="2000" dirty="0">
                <a:solidFill>
                  <a:schemeClr val="tx1"/>
                </a:solidFill>
              </a:rPr>
              <a:t>Invest in genres that audiences consistently enjoy. </a:t>
            </a:r>
          </a:p>
          <a:p>
            <a:r>
              <a:rPr lang="en-US" sz="2000" dirty="0">
                <a:solidFill>
                  <a:schemeClr val="tx1"/>
                </a:solidFill>
              </a:rPr>
              <a:t>Improve marketing strategies. </a:t>
            </a:r>
          </a:p>
          <a:p>
            <a:r>
              <a:rPr lang="en-US" sz="2000" dirty="0">
                <a:solidFill>
                  <a:schemeClr val="tx1"/>
                </a:solidFill>
              </a:rPr>
              <a:t>Make informed production decisions. </a:t>
            </a:r>
          </a:p>
          <a:p>
            <a:r>
              <a:rPr lang="en-US" sz="2000" dirty="0">
                <a:solidFill>
                  <a:schemeClr val="tx1"/>
                </a:solidFill>
              </a:rPr>
              <a:t>Identify genres with strong long-term audience appeal.</a:t>
            </a:r>
          </a:p>
          <a:p>
            <a:endParaRPr lang="en-US" sz="2000" dirty="0">
              <a:solidFill>
                <a:schemeClr val="tx1"/>
              </a:solidFill>
            </a:endParaRPr>
          </a:p>
        </p:txBody>
      </p:sp>
    </p:spTree>
    <p:extLst>
      <p:ext uri="{BB962C8B-B14F-4D97-AF65-F5344CB8AC3E}">
        <p14:creationId xmlns:p14="http://schemas.microsoft.com/office/powerpoint/2010/main" val="5918121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95CB0D-48B1-9DE7-2D09-2A3C6B0062CF}"/>
              </a:ext>
            </a:extLst>
          </p:cNvPr>
          <p:cNvSpPr>
            <a:spLocks noGrp="1"/>
          </p:cNvSpPr>
          <p:nvPr>
            <p:ph type="title"/>
          </p:nvPr>
        </p:nvSpPr>
        <p:spPr/>
        <p:txBody>
          <a:bodyPr/>
          <a:lstStyle/>
          <a:p>
            <a:r>
              <a:rPr lang="en-US" b="1" dirty="0"/>
              <a:t>Potential Data Cleaning Tasks</a:t>
            </a:r>
          </a:p>
        </p:txBody>
      </p:sp>
      <p:sp>
        <p:nvSpPr>
          <p:cNvPr id="3" name="Content Placeholder 2">
            <a:extLst>
              <a:ext uri="{FF2B5EF4-FFF2-40B4-BE49-F238E27FC236}">
                <a16:creationId xmlns:a16="http://schemas.microsoft.com/office/drawing/2014/main" id="{C9A094FE-1F13-3B45-BEC7-21F345F07915}"/>
              </a:ext>
            </a:extLst>
          </p:cNvPr>
          <p:cNvSpPr>
            <a:spLocks noGrp="1"/>
          </p:cNvSpPr>
          <p:nvPr>
            <p:ph idx="1"/>
          </p:nvPr>
        </p:nvSpPr>
        <p:spPr/>
        <p:txBody>
          <a:bodyPr/>
          <a:lstStyle/>
          <a:p>
            <a:r>
              <a:rPr lang="en-US" dirty="0"/>
              <a:t>Before conducting a more detailed analysis, the following data quality issues should be addressed:</a:t>
            </a:r>
          </a:p>
          <a:p>
            <a:r>
              <a:rPr lang="en-US" dirty="0"/>
              <a:t>Remove movies with missing genre information. </a:t>
            </a:r>
          </a:p>
          <a:p>
            <a:r>
              <a:rPr lang="en-US" dirty="0"/>
              <a:t>Exclude movies released after 2019. </a:t>
            </a:r>
          </a:p>
          <a:p>
            <a:r>
              <a:rPr lang="en-US" dirty="0"/>
              <a:t>Filter out movies with very low vote counts to reduce unreliable ratings. </a:t>
            </a:r>
          </a:p>
          <a:p>
            <a:r>
              <a:rPr lang="en-US" dirty="0"/>
              <a:t>Standardize genre names and formatting for consistency. </a:t>
            </a:r>
          </a:p>
          <a:p>
            <a:r>
              <a:rPr lang="en-US" dirty="0"/>
              <a:t>Check for duplicate movie records. </a:t>
            </a:r>
          </a:p>
          <a:p>
            <a:r>
              <a:rPr lang="en-US" dirty="0"/>
              <a:t>Verify that numeric fields such as ratings, runtime, and vote counts contain valid values.</a:t>
            </a:r>
          </a:p>
          <a:p>
            <a:endParaRPr lang="en-US" dirty="0"/>
          </a:p>
        </p:txBody>
      </p:sp>
    </p:spTree>
    <p:extLst>
      <p:ext uri="{BB962C8B-B14F-4D97-AF65-F5344CB8AC3E}">
        <p14:creationId xmlns:p14="http://schemas.microsoft.com/office/powerpoint/2010/main" val="39883268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E794B5-DF6C-884F-FB08-F93583624ADE}"/>
              </a:ext>
            </a:extLst>
          </p:cNvPr>
          <p:cNvSpPr>
            <a:spLocks noGrp="1"/>
          </p:cNvSpPr>
          <p:nvPr>
            <p:ph type="ctrTitle"/>
          </p:nvPr>
        </p:nvSpPr>
        <p:spPr>
          <a:xfrm>
            <a:off x="1638300" y="0"/>
            <a:ext cx="8915399" cy="2262781"/>
          </a:xfrm>
        </p:spPr>
        <p:txBody>
          <a:bodyPr/>
          <a:lstStyle/>
          <a:p>
            <a:r>
              <a:rPr lang="en-US" b="1" dirty="0"/>
              <a:t>Conclusion</a:t>
            </a:r>
          </a:p>
        </p:txBody>
      </p:sp>
      <p:sp>
        <p:nvSpPr>
          <p:cNvPr id="3" name="Subtitle 2">
            <a:extLst>
              <a:ext uri="{FF2B5EF4-FFF2-40B4-BE49-F238E27FC236}">
                <a16:creationId xmlns:a16="http://schemas.microsoft.com/office/drawing/2014/main" id="{A187FD10-9CC1-C080-A5BB-33E0CFC375CE}"/>
              </a:ext>
            </a:extLst>
          </p:cNvPr>
          <p:cNvSpPr>
            <a:spLocks noGrp="1"/>
          </p:cNvSpPr>
          <p:nvPr>
            <p:ph type="subTitle" idx="1"/>
          </p:nvPr>
        </p:nvSpPr>
        <p:spPr>
          <a:xfrm>
            <a:off x="2579976" y="2514876"/>
            <a:ext cx="8915399" cy="1126283"/>
          </a:xfrm>
        </p:spPr>
        <p:txBody>
          <a:bodyPr>
            <a:noAutofit/>
          </a:bodyPr>
          <a:lstStyle/>
          <a:p>
            <a:r>
              <a:rPr lang="en-US" sz="2000" b="1" dirty="0">
                <a:solidFill>
                  <a:schemeClr val="tx1"/>
                </a:solidFill>
              </a:rPr>
              <a:t>The exploratory analysis indicates that documentary-based genres and drama consistently receive higher audience ratings than many other genres. Applying a minimum vote threshold helped reduce the influence of little-known movies with very few ratings, producing more reliable insights.</a:t>
            </a:r>
          </a:p>
          <a:p>
            <a:r>
              <a:rPr lang="en-US" sz="2000" b="1" dirty="0">
                <a:solidFill>
                  <a:schemeClr val="tx1"/>
                </a:solidFill>
              </a:rPr>
              <a:t>This exploration suggests that audience engagement and genre selection are valuable areas for further investigation and could support better decision-making within the film industry.</a:t>
            </a:r>
          </a:p>
          <a:p>
            <a:endParaRPr lang="en-US" sz="2000" dirty="0">
              <a:solidFill>
                <a:schemeClr val="tx1"/>
              </a:solidFill>
            </a:endParaRPr>
          </a:p>
        </p:txBody>
      </p:sp>
    </p:spTree>
    <p:extLst>
      <p:ext uri="{BB962C8B-B14F-4D97-AF65-F5344CB8AC3E}">
        <p14:creationId xmlns:p14="http://schemas.microsoft.com/office/powerpoint/2010/main" val="2597759166"/>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docProps/app.xml><?xml version="1.0" encoding="utf-8"?>
<Properties xmlns="http://schemas.openxmlformats.org/officeDocument/2006/extended-properties" xmlns:vt="http://schemas.openxmlformats.org/officeDocument/2006/docPropsVTypes">
  <Template>Wisp</Template>
  <TotalTime>37</TotalTime>
  <Words>349</Words>
  <Application>Microsoft Office PowerPoint</Application>
  <PresentationFormat>Widescreen</PresentationFormat>
  <Paragraphs>34</Paragraphs>
  <Slides>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vt:i4>
      </vt:variant>
    </vt:vector>
  </HeadingPairs>
  <TitlesOfParts>
    <vt:vector size="9" baseType="lpstr">
      <vt:lpstr>Arial</vt:lpstr>
      <vt:lpstr>Century Gothic</vt:lpstr>
      <vt:lpstr>Wingdings 3</vt:lpstr>
      <vt:lpstr>Wisp</vt:lpstr>
      <vt:lpstr>Title </vt:lpstr>
      <vt:lpstr>Initial Exploration Findings</vt:lpstr>
      <vt:lpstr>Business Question</vt:lpstr>
      <vt:lpstr>Potential Data Cleaning Tasks</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Clement Saini</dc:creator>
  <cp:lastModifiedBy>Clement Saini</cp:lastModifiedBy>
  <cp:revision>1</cp:revision>
  <dcterms:created xsi:type="dcterms:W3CDTF">2026-07-14T17:47:22Z</dcterms:created>
  <dcterms:modified xsi:type="dcterms:W3CDTF">2026-07-14T18:24:44Z</dcterms:modified>
</cp:coreProperties>
</file>